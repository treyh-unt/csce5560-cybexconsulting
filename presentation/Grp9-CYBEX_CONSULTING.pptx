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70" r:id="rId4"/>
    <p:sldId id="265" r:id="rId5"/>
    <p:sldId id="266" r:id="rId6"/>
    <p:sldId id="260" r:id="rId7"/>
    <p:sldId id="267" r:id="rId8"/>
    <p:sldId id="268" r:id="rId9"/>
    <p:sldId id="263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270567-434E-E33C-AC9E-94A71A85442D}" v="20" dt="2026-04-28T03:51:28.145"/>
    <p1510:client id="{20D5F256-E648-CD09-60FB-0C31DAA37E67}" v="621" dt="2026-04-29T02:56:52.938"/>
    <p1510:client id="{407B132B-A0E0-4626-5B9E-502E7E671E52}" v="3" dt="2026-04-28T23:34:06.130"/>
    <p1510:client id="{6142BAF8-FCF5-0C85-7CAC-04049505F58F}" v="15" dt="2026-04-29T02:47:05.107"/>
    <p1510:client id="{647E25BD-3140-5DDC-9000-1D3C3F7EEB30}" v="68" dt="2026-04-28T03:28:00.990"/>
    <p1510:client id="{884FBA95-AC6E-4467-FDBC-13E50E5706BE}" v="2" dt="2026-04-29T20:39:33.542"/>
    <p1510:client id="{B6D00D87-F60B-AAD8-62B0-323D49C5B561}" v="60" dt="2026-04-29T02:49:50.161"/>
    <p1510:client id="{C522D0B2-C9B2-4124-AE99-383253DAA18E}" v="6" dt="2026-04-28T23:26:09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74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2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60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61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836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211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28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71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62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7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13158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10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94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5578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184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6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79A8CF6-D399-41DA-ABF8-36C471952A30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DC387-62FB-4A62-8A14-331EA1A5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151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ortswigger.net/burp/pro" TargetMode="External"/><Relationship Id="rId3" Type="http://schemas.openxmlformats.org/officeDocument/2006/relationships/hyperlink" Target="https://www.siteground.com/kb/how_does_SiteGround_protect_my_website/" TargetMode="External"/><Relationship Id="rId7" Type="http://schemas.openxmlformats.org/officeDocument/2006/relationships/hyperlink" Target="https://supportcandy.net/" TargetMode="External"/><Relationship Id="rId2" Type="http://schemas.openxmlformats.org/officeDocument/2006/relationships/hyperlink" Target="https://cybexconsulting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elp.tidio.com/hc/en-us" TargetMode="External"/><Relationship Id="rId5" Type="http://schemas.openxmlformats.org/officeDocument/2006/relationships/hyperlink" Target="https://wordpress.org/plugins/wp-2fa/" TargetMode="External"/><Relationship Id="rId4" Type="http://schemas.openxmlformats.org/officeDocument/2006/relationships/hyperlink" Target="https://woocommerce.com/document/stripe/setup-and-configuration/connecting-to-strip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98ED6-DDCB-483B-71E0-BAB9E0C23F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CYBEX CONSULTING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FDCF4-028D-7F10-7500-E328EBF759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/>
              <a:t>GROUP 9</a:t>
            </a:r>
          </a:p>
          <a:p>
            <a:r>
              <a:rPr lang="en-US"/>
              <a:t>Hollie King, Trey Hawkins, Jean-</a:t>
            </a:r>
            <a:r>
              <a:rPr lang="en-US" err="1"/>
              <a:t>charles</a:t>
            </a:r>
            <a:r>
              <a:rPr lang="en-US"/>
              <a:t> </a:t>
            </a:r>
            <a:r>
              <a:rPr lang="en-US" err="1"/>
              <a:t>hekamanu</a:t>
            </a:r>
            <a:r>
              <a:rPr lang="en-US"/>
              <a:t>, Dinh Cao Dat </a:t>
            </a:r>
            <a:r>
              <a:rPr lang="en-US" err="1"/>
              <a:t>NguYen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C6239-A146-B125-58E7-1238A111A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C789B-C112-C268-32AD-65F041899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Cybex Consulting is a cybersecurity firm dedicated to providing modern security solutions for businesses.</a:t>
            </a:r>
          </a:p>
          <a:p>
            <a:pPr>
              <a:buClr>
                <a:srgbClr val="AFC5B9"/>
              </a:buClr>
            </a:pPr>
            <a:r>
              <a:rPr lang="en-US">
                <a:ea typeface="+mj-lt"/>
                <a:cs typeface="+mj-lt"/>
              </a:rPr>
              <a:t>As cyber threats continue to evolve, organizations struggle to protect their systems, maintain compliance, and train their teams effectively. </a:t>
            </a:r>
          </a:p>
          <a:p>
            <a:pPr>
              <a:buClr>
                <a:srgbClr val="AFC5B9"/>
              </a:buClr>
            </a:pPr>
            <a:r>
              <a:rPr lang="en-US">
                <a:ea typeface="+mj-lt"/>
                <a:cs typeface="+mj-lt"/>
              </a:rPr>
              <a:t>Cybex Consulting addresses these challenges by offering expert-driven services from penetration testing and system hardening to compliance advisory and security awareness training  </a:t>
            </a:r>
          </a:p>
          <a:p>
            <a:pPr>
              <a:buClr>
                <a:srgbClr val="AFC5B9"/>
              </a:buClr>
            </a:pPr>
            <a:r>
              <a:rPr lang="en-US">
                <a:ea typeface="+mj-lt"/>
                <a:cs typeface="+mj-lt"/>
              </a:rPr>
              <a:t>All accessible through a web platform.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34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58EB9-3A14-4630-0300-EE27A561C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88C3C-A087-B3EF-42D7-766D66EC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Concept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DE7B40-A18F-B10C-470A-1216D56F8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786" y="1351280"/>
            <a:ext cx="7530668" cy="531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206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0534B-852C-803B-037F-C726DDE07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5630C-90E1-3767-3EDF-5BAF5B5BC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7406"/>
          </a:xfrm>
        </p:spPr>
        <p:txBody>
          <a:bodyPr/>
          <a:lstStyle/>
          <a:p>
            <a:r>
              <a:rPr lang="en-US"/>
              <a:t>Site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41DFC-FA4F-B04D-58E9-505516DDD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30124"/>
            <a:ext cx="8946541" cy="4918275"/>
          </a:xfrm>
        </p:spPr>
        <p:txBody>
          <a:bodyPr>
            <a:normAutofit/>
          </a:bodyPr>
          <a:lstStyle/>
          <a:p>
            <a:r>
              <a:rPr lang="en-US"/>
              <a:t>Hosted on </a:t>
            </a:r>
            <a:r>
              <a:rPr lang="en-US" err="1"/>
              <a:t>SiteGround</a:t>
            </a:r>
            <a:r>
              <a:rPr lang="en-US"/>
              <a:t> with Security Optimizer</a:t>
            </a:r>
          </a:p>
          <a:p>
            <a:r>
              <a:rPr lang="en-US"/>
              <a:t>Using WordPress</a:t>
            </a:r>
          </a:p>
          <a:p>
            <a:r>
              <a:rPr lang="en-US"/>
              <a:t>MySQL DB</a:t>
            </a:r>
          </a:p>
          <a:p>
            <a:r>
              <a:rPr lang="en-US"/>
              <a:t>SSL enabled, HTTPS enforced</a:t>
            </a:r>
          </a:p>
          <a:p>
            <a:r>
              <a:rPr lang="en-US"/>
              <a:t>WAF enabled</a:t>
            </a:r>
          </a:p>
          <a:p>
            <a:r>
              <a:rPr lang="en-US"/>
              <a:t>CDN enabled</a:t>
            </a:r>
          </a:p>
          <a:p>
            <a:r>
              <a:rPr lang="en-US"/>
              <a:t>MFA enforced</a:t>
            </a:r>
          </a:p>
          <a:p>
            <a:r>
              <a:rPr lang="en-US"/>
              <a:t>Role Based Access Management</a:t>
            </a:r>
          </a:p>
          <a:p>
            <a:r>
              <a:rPr lang="en-US"/>
              <a:t>Wp-admin login URL protected</a:t>
            </a:r>
          </a:p>
          <a:p>
            <a:r>
              <a:rPr lang="en-US"/>
              <a:t>Admin email alerts</a:t>
            </a:r>
          </a:p>
          <a:p>
            <a:r>
              <a:rPr lang="en-US"/>
              <a:t>Email included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7848FE-DA32-C04B-E162-81D8E2E658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0" t="23115" r="13359" b="60661"/>
          <a:stretch>
            <a:fillRect/>
          </a:stretch>
        </p:blipFill>
        <p:spPr>
          <a:xfrm>
            <a:off x="5638800" y="2004541"/>
            <a:ext cx="6419850" cy="877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59AB22-4C90-8152-1C43-4E69B2CD5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0" t="27642" r="33672" b="37620"/>
          <a:stretch>
            <a:fillRect/>
          </a:stretch>
        </p:blipFill>
        <p:spPr>
          <a:xfrm>
            <a:off x="6428092" y="2946304"/>
            <a:ext cx="4841266" cy="21380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3F328A-FEF4-D7DE-226C-0110D29D5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564" y="5148744"/>
            <a:ext cx="4458322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73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EB98D-C8DF-D006-89EB-EF785A62B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9EBD8-C5F3-392E-3D69-2C8FB57E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DataFlow</a:t>
            </a:r>
            <a:r>
              <a:rPr lang="en-US"/>
              <a:t> Diagram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71C5B0-CC5E-D26B-3999-2F6F636723BC}"/>
              </a:ext>
            </a:extLst>
          </p:cNvPr>
          <p:cNvSpPr/>
          <p:nvPr/>
        </p:nvSpPr>
        <p:spPr>
          <a:xfrm>
            <a:off x="507325" y="2523744"/>
            <a:ext cx="1264985" cy="5852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Customers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35ABD8-ACAA-AC96-02B5-788802BCA586}"/>
              </a:ext>
            </a:extLst>
          </p:cNvPr>
          <p:cNvSpPr/>
          <p:nvPr/>
        </p:nvSpPr>
        <p:spPr>
          <a:xfrm>
            <a:off x="3019064" y="1788034"/>
            <a:ext cx="5877277" cy="3593592"/>
          </a:xfrm>
          <a:prstGeom prst="round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078EC5-48C1-612B-EB07-FB4B7728F7A2}"/>
              </a:ext>
            </a:extLst>
          </p:cNvPr>
          <p:cNvSpPr/>
          <p:nvPr/>
        </p:nvSpPr>
        <p:spPr>
          <a:xfrm>
            <a:off x="9293786" y="2075688"/>
            <a:ext cx="2066544" cy="1033272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Stripe Gateway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C80D674-E1EE-C5B5-3015-1D6C402B3AD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772310" y="2816352"/>
            <a:ext cx="1339681" cy="0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D0E703-2B43-E3E3-8FC3-457C35D2D498}"/>
              </a:ext>
            </a:extLst>
          </p:cNvPr>
          <p:cNvCxnSpPr>
            <a:cxnSpLocks/>
          </p:cNvCxnSpPr>
          <p:nvPr/>
        </p:nvCxnSpPr>
        <p:spPr>
          <a:xfrm>
            <a:off x="1947672" y="1728216"/>
            <a:ext cx="0" cy="4041648"/>
          </a:xfrm>
          <a:prstGeom prst="line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F6297C4-CC8E-336C-C99D-5E9F093DE909}"/>
              </a:ext>
            </a:extLst>
          </p:cNvPr>
          <p:cNvCxnSpPr>
            <a:cxnSpLocks/>
          </p:cNvCxnSpPr>
          <p:nvPr/>
        </p:nvCxnSpPr>
        <p:spPr>
          <a:xfrm>
            <a:off x="2605536" y="1728216"/>
            <a:ext cx="0" cy="4041648"/>
          </a:xfrm>
          <a:prstGeom prst="line">
            <a:avLst/>
          </a:prstGeom>
          <a:ln w="19050" cap="flat" cmpd="sng" algn="ctr">
            <a:solidFill>
              <a:schemeClr val="accent3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87CAD7F-E7F3-7CCF-C7B1-CB589D03A13C}"/>
              </a:ext>
            </a:extLst>
          </p:cNvPr>
          <p:cNvSpPr txBox="1"/>
          <p:nvPr/>
        </p:nvSpPr>
        <p:spPr>
          <a:xfrm>
            <a:off x="1590042" y="1358884"/>
            <a:ext cx="71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29676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CDN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5D689B-30E5-D25B-8526-731C034FA7C8}"/>
              </a:ext>
            </a:extLst>
          </p:cNvPr>
          <p:cNvSpPr txBox="1"/>
          <p:nvPr/>
        </p:nvSpPr>
        <p:spPr>
          <a:xfrm>
            <a:off x="2260730" y="1347200"/>
            <a:ext cx="689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C0CF3A">
                    <a:lumMod val="60000"/>
                    <a:lumOff val="40000"/>
                  </a:srgb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WAF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0AC166E6-CEF9-0B76-BF81-5332D09D01C8}"/>
              </a:ext>
            </a:extLst>
          </p:cNvPr>
          <p:cNvSpPr/>
          <p:nvPr/>
        </p:nvSpPr>
        <p:spPr>
          <a:xfrm>
            <a:off x="3319298" y="2143133"/>
            <a:ext cx="4167352" cy="2952742"/>
          </a:xfrm>
          <a:prstGeom prst="flowChartAlternateProcess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DB83A4C4-97C6-459B-26EC-CA4D70B6F13C}"/>
              </a:ext>
            </a:extLst>
          </p:cNvPr>
          <p:cNvSpPr/>
          <p:nvPr/>
        </p:nvSpPr>
        <p:spPr>
          <a:xfrm>
            <a:off x="7738835" y="3749040"/>
            <a:ext cx="9144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MySQL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DB</a:t>
            </a: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CE0B479E-68CE-F25D-D643-55EA392CFEAB}"/>
              </a:ext>
            </a:extLst>
          </p:cNvPr>
          <p:cNvSpPr/>
          <p:nvPr/>
        </p:nvSpPr>
        <p:spPr>
          <a:xfrm>
            <a:off x="3707662" y="2336899"/>
            <a:ext cx="3390623" cy="55969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Woo Commerce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73A88AF4-AA05-6880-8BB5-EB3E1FB15B11}"/>
              </a:ext>
            </a:extLst>
          </p:cNvPr>
          <p:cNvSpPr/>
          <p:nvPr/>
        </p:nvSpPr>
        <p:spPr>
          <a:xfrm>
            <a:off x="3706720" y="3025140"/>
            <a:ext cx="3390623" cy="55969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WP 2FA</a:t>
            </a: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1DF8EDA6-165B-80B5-8C2A-248031EE915B}"/>
              </a:ext>
            </a:extLst>
          </p:cNvPr>
          <p:cNvSpPr/>
          <p:nvPr/>
        </p:nvSpPr>
        <p:spPr>
          <a:xfrm>
            <a:off x="3706720" y="3681567"/>
            <a:ext cx="3390623" cy="55969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TDIO Chat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0E3648ED-FAF8-60CD-7BB9-0ADB4D89D179}"/>
              </a:ext>
            </a:extLst>
          </p:cNvPr>
          <p:cNvSpPr/>
          <p:nvPr/>
        </p:nvSpPr>
        <p:spPr>
          <a:xfrm>
            <a:off x="3706720" y="4357116"/>
            <a:ext cx="3390623" cy="55969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SupportCandy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BFC8DA7-B89F-D9AA-5658-132CBDD7961F}"/>
              </a:ext>
            </a:extLst>
          </p:cNvPr>
          <p:cNvCxnSpPr>
            <a:stCxn id="20" idx="3"/>
            <a:endCxn id="4" idx="1"/>
          </p:cNvCxnSpPr>
          <p:nvPr/>
        </p:nvCxnSpPr>
        <p:spPr>
          <a:xfrm flipV="1">
            <a:off x="7098285" y="2592324"/>
            <a:ext cx="2195501" cy="2442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A46106D-C0A4-1727-513D-712DC2E376A5}"/>
              </a:ext>
            </a:extLst>
          </p:cNvPr>
          <p:cNvSpPr txBox="1"/>
          <p:nvPr/>
        </p:nvSpPr>
        <p:spPr>
          <a:xfrm>
            <a:off x="3919921" y="1810759"/>
            <a:ext cx="1298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SiteGround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442BAC-84EA-6F5D-AB9A-5E9C8A53FB54}"/>
              </a:ext>
            </a:extLst>
          </p:cNvPr>
          <p:cNvSpPr txBox="1"/>
          <p:nvPr/>
        </p:nvSpPr>
        <p:spPr>
          <a:xfrm rot="16200000">
            <a:off x="2856407" y="3167199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WordPress</a:t>
            </a:r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8EF0A296-FA01-61A8-D77A-F124A9F32664}"/>
              </a:ext>
            </a:extLst>
          </p:cNvPr>
          <p:cNvSpPr/>
          <p:nvPr/>
        </p:nvSpPr>
        <p:spPr>
          <a:xfrm>
            <a:off x="7738835" y="2854325"/>
            <a:ext cx="914400" cy="612648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SSL Certs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A8A93A9-678D-C32E-8935-9A87971CCC62}"/>
              </a:ext>
            </a:extLst>
          </p:cNvPr>
          <p:cNvSpPr/>
          <p:nvPr/>
        </p:nvSpPr>
        <p:spPr>
          <a:xfrm>
            <a:off x="504691" y="4334123"/>
            <a:ext cx="1264985" cy="5919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Employees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D7C775D-2EFE-6E4D-8CB3-B9C3C51E327A}"/>
              </a:ext>
            </a:extLst>
          </p:cNvPr>
          <p:cNvCxnSpPr>
            <a:cxnSpLocks/>
            <a:stCxn id="31" idx="3"/>
            <a:endCxn id="23" idx="1"/>
          </p:cNvCxnSpPr>
          <p:nvPr/>
        </p:nvCxnSpPr>
        <p:spPr>
          <a:xfrm>
            <a:off x="1769676" y="4630110"/>
            <a:ext cx="1937044" cy="685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BC6DCE7-6FF6-5405-D894-6F1479EC6C98}"/>
              </a:ext>
            </a:extLst>
          </p:cNvPr>
          <p:cNvCxnSpPr>
            <a:cxnSpLocks/>
            <a:stCxn id="31" idx="3"/>
            <a:endCxn id="22" idx="1"/>
          </p:cNvCxnSpPr>
          <p:nvPr/>
        </p:nvCxnSpPr>
        <p:spPr>
          <a:xfrm flipV="1">
            <a:off x="1769676" y="3961412"/>
            <a:ext cx="1937044" cy="668698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B2DFE7A-5B89-7C16-F870-821BF614F3CB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7484765" y="4357116"/>
            <a:ext cx="25407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556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9C766-127E-6634-F967-503CD4E9D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23436-4414-B628-E403-6DF8155C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WordPress Plugins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2196B-4663-2A91-4A15-1790C430F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SiteGround</a:t>
            </a:r>
            <a:r>
              <a:rPr lang="en-US"/>
              <a:t> Security Optimizer – Lock &amp; Protect System Folders, Disable XML-RPC, Advanced XSS Protection, and more</a:t>
            </a:r>
          </a:p>
          <a:p>
            <a:r>
              <a:rPr lang="en-US" err="1"/>
              <a:t>JetPack</a:t>
            </a:r>
            <a:r>
              <a:rPr lang="en-US"/>
              <a:t> – Backups, WAF, monitoring, and more</a:t>
            </a:r>
          </a:p>
          <a:p>
            <a:r>
              <a:rPr lang="en-US"/>
              <a:t>Woo Commerce – Product Management, Cart, Checkout</a:t>
            </a:r>
          </a:p>
          <a:p>
            <a:r>
              <a:rPr lang="en-US"/>
              <a:t>Stripe – Payment Gateway</a:t>
            </a:r>
          </a:p>
          <a:p>
            <a:r>
              <a:rPr lang="en-US"/>
              <a:t>WP 2FA – Enforces 2FA for all users</a:t>
            </a:r>
          </a:p>
          <a:p>
            <a:r>
              <a:rPr lang="en-US" err="1"/>
              <a:t>Tidio</a:t>
            </a:r>
            <a:r>
              <a:rPr lang="en-US"/>
              <a:t> Chat – AI Chatbot</a:t>
            </a:r>
          </a:p>
          <a:p>
            <a:r>
              <a:rPr lang="en-US" err="1"/>
              <a:t>SupportCandy</a:t>
            </a:r>
            <a:r>
              <a:rPr lang="en-US"/>
              <a:t> – Service Tickets for customer support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812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D5FAD-8D89-6432-BE2D-6A78AF91C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0F670-A8EB-6E58-99EC-9F532C642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Testing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56D9F-0487-06E4-AF50-9DA3809B7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90" r="65234" b="3833"/>
          <a:stretch>
            <a:fillRect/>
          </a:stretch>
        </p:blipFill>
        <p:spPr>
          <a:xfrm>
            <a:off x="187685" y="1552499"/>
            <a:ext cx="4238625" cy="4371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F4AE94-07CE-5496-C7D9-BDC9CDE54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" t="61111" r="73516" b="4085"/>
          <a:stretch>
            <a:fillRect/>
          </a:stretch>
        </p:blipFill>
        <p:spPr>
          <a:xfrm>
            <a:off x="4655219" y="2644031"/>
            <a:ext cx="3172804" cy="20288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333DF9-1BDB-617A-6D13-A4C502444F9A}"/>
              </a:ext>
            </a:extLst>
          </p:cNvPr>
          <p:cNvSpPr txBox="1"/>
          <p:nvPr/>
        </p:nvSpPr>
        <p:spPr>
          <a:xfrm>
            <a:off x="5115351" y="1987029"/>
            <a:ext cx="2252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OWASP ZAP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D4420D-5477-37ED-1D45-CDC08D312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6932" y="1552499"/>
            <a:ext cx="3987804" cy="50047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736BC7-956C-7270-D74A-84577FDB354B}"/>
              </a:ext>
            </a:extLst>
          </p:cNvPr>
          <p:cNvSpPr txBox="1"/>
          <p:nvPr/>
        </p:nvSpPr>
        <p:spPr>
          <a:xfrm>
            <a:off x="7982376" y="1029279"/>
            <a:ext cx="13708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Nessus</a:t>
            </a:r>
          </a:p>
        </p:txBody>
      </p:sp>
    </p:spTree>
    <p:extLst>
      <p:ext uri="{BB962C8B-B14F-4D97-AF65-F5344CB8AC3E}">
        <p14:creationId xmlns:p14="http://schemas.microsoft.com/office/powerpoint/2010/main" val="3847220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29598-692F-A6EE-D36A-E55B453DE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198FA-B626-5B69-6C8D-14694C28B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Testing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9998D1-A66F-CE73-C3C7-3E7BB79C1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75" b="10552"/>
          <a:stretch>
            <a:fillRect/>
          </a:stretch>
        </p:blipFill>
        <p:spPr>
          <a:xfrm>
            <a:off x="1683785" y="1977306"/>
            <a:ext cx="7320079" cy="27249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D80C7A-1B80-DF7E-E3CF-93888958D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83" b="10553"/>
          <a:stretch>
            <a:fillRect/>
          </a:stretch>
        </p:blipFill>
        <p:spPr>
          <a:xfrm>
            <a:off x="1391414" y="4811327"/>
            <a:ext cx="8555309" cy="1967534"/>
          </a:xfrm>
          <a:prstGeom prst="rect">
            <a:avLst/>
          </a:prstGeom>
        </p:spPr>
      </p:pic>
      <p:pic>
        <p:nvPicPr>
          <p:cNvPr id="3" name="Picture 2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8D7AE5C2-2051-3FA3-A19E-DAFF9D950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51" y="1275374"/>
            <a:ext cx="10705171" cy="5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15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3855E-3E79-2DA0-9D54-B0A97808B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3C721-FF48-338C-8463-43091C07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828FF-B582-2FF4-7D2D-941986719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AFC5B9"/>
              </a:buClr>
            </a:pPr>
            <a:r>
              <a:rPr lang="en-US"/>
              <a:t>Some additional tools used during testing</a:t>
            </a:r>
          </a:p>
          <a:p>
            <a:pPr lvl="1">
              <a:buClr>
                <a:srgbClr val="AFC5B9"/>
              </a:buClr>
              <a:buFont typeface="Courier New" charset="2"/>
              <a:buChar char="o"/>
            </a:pPr>
            <a:r>
              <a:rPr lang="en-US" err="1"/>
              <a:t>BurpSuite</a:t>
            </a:r>
            <a:endParaRPr lang="en-US"/>
          </a:p>
          <a:p>
            <a:pPr lvl="1">
              <a:buClr>
                <a:srgbClr val="AFC5B9"/>
              </a:buClr>
              <a:buFont typeface="Courier New" charset="2"/>
              <a:buChar char="o"/>
            </a:pPr>
            <a:r>
              <a:rPr lang="en-US"/>
              <a:t>Wapiti</a:t>
            </a:r>
          </a:p>
          <a:p>
            <a:pPr>
              <a:buClr>
                <a:srgbClr val="AFC5B9"/>
              </a:buClr>
            </a:pPr>
            <a:r>
              <a:rPr lang="en-US"/>
              <a:t>Penetration testing was performed using results of vulnerability scanning</a:t>
            </a:r>
          </a:p>
          <a:p>
            <a:pPr>
              <a:buClr>
                <a:srgbClr val="AFC5B9"/>
              </a:buClr>
            </a:pPr>
            <a:r>
              <a:rPr lang="en-US"/>
              <a:t>1 Critical and 5 High vulnerabilities were identified, but already had remediations in place</a:t>
            </a:r>
          </a:p>
          <a:p>
            <a:pPr>
              <a:buClr>
                <a:srgbClr val="AFC5B9"/>
              </a:buClr>
            </a:pPr>
            <a:r>
              <a:rPr lang="en-US"/>
              <a:t>We deemed the website is configured and performing within acceptable risk tolerances</a:t>
            </a:r>
          </a:p>
          <a:p>
            <a:pPr lvl="1">
              <a:buClr>
                <a:srgbClr val="AFC5B9"/>
              </a:buClr>
              <a:buFont typeface="Courier New" charset="2"/>
              <a:buChar char="o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10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2BFF8-E280-30D7-53B8-26460A24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AD700-FF27-39C5-38E8-1DE4342F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CBCF9-DF97-78BB-15DF-CCB64A919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https://cybexconsulting.com</a:t>
            </a:r>
          </a:p>
          <a:p>
            <a:pPr>
              <a:buClr>
                <a:srgbClr val="AFC5B9"/>
              </a:buClr>
            </a:pPr>
            <a:r>
              <a:rPr lang="en-US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https://www.siteground.com/kb/how_does_SiteGround_protect_my_website/</a:t>
            </a:r>
            <a:endParaRPr lang="en-US"/>
          </a:p>
          <a:p>
            <a:r>
              <a:rPr lang="en-US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https://woocommerce.com/document/stripe/setup-and-configuration/connecting-to-stripe/</a:t>
            </a:r>
          </a:p>
          <a:p>
            <a:pPr>
              <a:buClr>
                <a:srgbClr val="AFC5B9"/>
              </a:buClr>
            </a:pPr>
            <a:r>
              <a:rPr lang="en-US">
                <a:ea typeface="+mj-lt"/>
                <a:cs typeface="+mj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https://wordpress.org/plugins/wp-2fa/</a:t>
            </a:r>
          </a:p>
          <a:p>
            <a:pPr>
              <a:buClr>
                <a:srgbClr val="AFC5B9"/>
              </a:buClr>
            </a:pPr>
            <a:r>
              <a:rPr lang="en-US">
                <a:ea typeface="+mj-lt"/>
                <a:cs typeface="+mj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https://help.tidio.com/hc/en-us</a:t>
            </a:r>
            <a:endParaRPr lang="en-US"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Clr>
                <a:srgbClr val="AFC5B9"/>
              </a:buClr>
            </a:pPr>
            <a:r>
              <a:rPr lang="en-US" u="sng">
                <a:ea typeface="+mj-lt"/>
                <a:cs typeface="+mj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https://supportcandy.net/</a:t>
            </a:r>
            <a:endParaRPr lang="en-US" u="sng"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buClr>
                <a:srgbClr val="AFC5B9"/>
              </a:buClr>
            </a:pPr>
            <a:r>
              <a:rPr lang="en-US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https://portswigger.net/burp/pro</a:t>
            </a:r>
            <a:endParaRPr lang="en-US" u="sng">
              <a:solidFill>
                <a:srgbClr val="FFFFFF"/>
              </a:solidFill>
            </a:endParaRPr>
          </a:p>
          <a:p>
            <a:pPr>
              <a:buClr>
                <a:srgbClr val="AFC5B9"/>
              </a:buClr>
            </a:pPr>
            <a:endParaRPr lang="en-US">
              <a:solidFill>
                <a:srgbClr val="FFFFFF"/>
              </a:solidFill>
            </a:endParaRPr>
          </a:p>
          <a:p>
            <a:pPr>
              <a:buClr>
                <a:srgbClr val="AFC5B9"/>
              </a:buClr>
            </a:pPr>
            <a:endParaRPr lang="en-US">
              <a:solidFill>
                <a:srgbClr val="FFFFFF"/>
              </a:solidFill>
            </a:endParaRPr>
          </a:p>
          <a:p>
            <a:pPr>
              <a:buClr>
                <a:srgbClr val="AFC5B9"/>
              </a:buClr>
            </a:pPr>
            <a:endParaRPr lang="en-US">
              <a:solidFill>
                <a:srgbClr val="8AB833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547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Ion</vt:lpstr>
      <vt:lpstr>CYBEX CONSULTING</vt:lpstr>
      <vt:lpstr>Introduction</vt:lpstr>
      <vt:lpstr>Concept</vt:lpstr>
      <vt:lpstr>Site Configuration</vt:lpstr>
      <vt:lpstr>DataFlow Diagram</vt:lpstr>
      <vt:lpstr>WordPress Plugins</vt:lpstr>
      <vt:lpstr>Security Testing</vt:lpstr>
      <vt:lpstr>Security Testing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Hollie King</dc:creator>
  <cp:revision>4</cp:revision>
  <dcterms:created xsi:type="dcterms:W3CDTF">2026-04-28T01:37:30Z</dcterms:created>
  <dcterms:modified xsi:type="dcterms:W3CDTF">2026-05-01T04:24:07Z</dcterms:modified>
</cp:coreProperties>
</file>